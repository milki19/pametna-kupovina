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3fb8526c14832" /><Relationship Type="http://schemas.openxmlformats.org/officeDocument/2006/relationships/extended-properties" Target="/docProps/app.xml" Id="Rd8747010f529478e" /><Relationship Type="http://schemas.openxmlformats.org/officeDocument/2006/relationships/officeDocument" Target="/ppt/presentation.xml" Id="R0e3f322859a4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87faeb5b14f85"/>
  </p:sldMasterIdLst>
  <p:notesMasterIdLst>
    <p:notesMasterId xmlns:r="http://schemas.openxmlformats.org/officeDocument/2006/relationships" r:id="R6470fee426dd4b75"/>
  </p:notesMasterIdLst>
  <p:sldIdLst>
    <p:sldId xmlns:r="http://schemas.openxmlformats.org/officeDocument/2006/relationships" id="256" r:id="R67ae4bc6289249e3"/>
    <p:sldId xmlns:r="http://schemas.openxmlformats.org/officeDocument/2006/relationships" id="257" r:id="R8888ba0272fd4774"/>
    <p:sldId xmlns:r="http://schemas.openxmlformats.org/officeDocument/2006/relationships" id="258" r:id="R6a109c04aae343b5"/>
    <p:sldId xmlns:r="http://schemas.openxmlformats.org/officeDocument/2006/relationships" id="259" r:id="R05b751ff6960479a"/>
    <p:sldId xmlns:r="http://schemas.openxmlformats.org/officeDocument/2006/relationships" id="260" r:id="R4480d75ef9ca46ce"/>
    <p:sldId xmlns:r="http://schemas.openxmlformats.org/officeDocument/2006/relationships" id="261" r:id="R6fdbfcf1424542fa"/>
    <p:sldId xmlns:r="http://schemas.openxmlformats.org/officeDocument/2006/relationships" id="262" r:id="R065f110d6f844d21"/>
    <p:sldId xmlns:r="http://schemas.openxmlformats.org/officeDocument/2006/relationships" id="263" r:id="R9f042c5114304f16"/>
    <p:sldId xmlns:r="http://schemas.openxmlformats.org/officeDocument/2006/relationships" id="264" r:id="R4dab14b0f1a743a8"/>
    <p:sldId xmlns:r="http://schemas.openxmlformats.org/officeDocument/2006/relationships" id="265" r:id="R0891c212ce244c7e"/>
    <p:sldId xmlns:r="http://schemas.openxmlformats.org/officeDocument/2006/relationships" id="266" r:id="R440cc5a70cba411e"/>
    <p:sldId xmlns:r="http://schemas.openxmlformats.org/officeDocument/2006/relationships" id="267" r:id="Rd8deea4bee854935"/>
    <p:sldId xmlns:r="http://schemas.openxmlformats.org/officeDocument/2006/relationships" id="268" r:id="R464fbadda95d49e5"/>
    <p:sldId xmlns:r="http://schemas.openxmlformats.org/officeDocument/2006/relationships" id="269" r:id="R386fcde27d364b44"/>
    <p:sldId xmlns:r="http://schemas.openxmlformats.org/officeDocument/2006/relationships" id="270" r:id="Rdb496938cdea4cfd"/>
    <p:sldId xmlns:r="http://schemas.openxmlformats.org/officeDocument/2006/relationships" id="271" r:id="Raeb3d4e302964813"/>
    <p:sldId xmlns:r="http://schemas.openxmlformats.org/officeDocument/2006/relationships" id="272" r:id="Ra32be09a0bcf42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000d19a814102" /><Relationship Type="http://schemas.openxmlformats.org/officeDocument/2006/relationships/slideMaster" Target="/ppt/slideMasters/slideMaster1.xml" Id="R77587faeb5b14f85" /><Relationship Type="http://schemas.openxmlformats.org/officeDocument/2006/relationships/notesMaster" Target="/ppt/notesMasters/notesMaster1.xml" Id="R6470fee426dd4b75" /><Relationship Type="http://schemas.openxmlformats.org/officeDocument/2006/relationships/presProps" Target="/ppt/presProps.xml" Id="R51751735690e4b78" /><Relationship Type="http://schemas.openxmlformats.org/officeDocument/2006/relationships/viewProps" Target="/ppt/viewProps.xml" Id="R241cb626f9824d01" /><Relationship Type="http://schemas.openxmlformats.org/officeDocument/2006/relationships/tableStyles" Target="/ppt/tableStyles.xml" Id="R249ebf74c7f045c3" /><Relationship Type="http://schemas.openxmlformats.org/officeDocument/2006/relationships/slide" Target="/ppt/slides/slide1.xml" Id="R67ae4bc6289249e3" /><Relationship Type="http://schemas.openxmlformats.org/officeDocument/2006/relationships/slide" Target="/ppt/slides/slide2.xml" Id="R8888ba0272fd4774" /><Relationship Type="http://schemas.openxmlformats.org/officeDocument/2006/relationships/slide" Target="/ppt/slides/slide3.xml" Id="R6a109c04aae343b5" /><Relationship Type="http://schemas.openxmlformats.org/officeDocument/2006/relationships/slide" Target="/ppt/slides/slide4.xml" Id="R05b751ff6960479a" /><Relationship Type="http://schemas.openxmlformats.org/officeDocument/2006/relationships/slide" Target="/ppt/slides/slide5.xml" Id="R4480d75ef9ca46ce" /><Relationship Type="http://schemas.openxmlformats.org/officeDocument/2006/relationships/slide" Target="/ppt/slides/slide6.xml" Id="R6fdbfcf1424542fa" /><Relationship Type="http://schemas.openxmlformats.org/officeDocument/2006/relationships/slide" Target="/ppt/slides/slide7.xml" Id="R065f110d6f844d21" /><Relationship Type="http://schemas.openxmlformats.org/officeDocument/2006/relationships/slide" Target="/ppt/slides/slide8.xml" Id="R9f042c5114304f16" /><Relationship Type="http://schemas.openxmlformats.org/officeDocument/2006/relationships/slide" Target="/ppt/slides/slide9.xml" Id="R4dab14b0f1a743a8" /><Relationship Type="http://schemas.openxmlformats.org/officeDocument/2006/relationships/slide" Target="/ppt/slides/slide10.xml" Id="R0891c212ce244c7e" /><Relationship Type="http://schemas.openxmlformats.org/officeDocument/2006/relationships/slide" Target="/ppt/slides/slide11.xml" Id="R440cc5a70cba411e" /><Relationship Type="http://schemas.openxmlformats.org/officeDocument/2006/relationships/slide" Target="/ppt/slides/slide12.xml" Id="Rd8deea4bee854935" /><Relationship Type="http://schemas.openxmlformats.org/officeDocument/2006/relationships/slide" Target="/ppt/slides/slide13.xml" Id="R464fbadda95d49e5" /><Relationship Type="http://schemas.openxmlformats.org/officeDocument/2006/relationships/slide" Target="/ppt/slides/slide14.xml" Id="R386fcde27d364b44" /><Relationship Type="http://schemas.openxmlformats.org/officeDocument/2006/relationships/slide" Target="/ppt/slides/slide15.xml" Id="Rdb496938cdea4cfd" /><Relationship Type="http://schemas.openxmlformats.org/officeDocument/2006/relationships/slide" Target="/ppt/slides/slide16.xml" Id="Raeb3d4e302964813" /><Relationship Type="http://schemas.openxmlformats.org/officeDocument/2006/relationships/slide" Target="/ppt/slides/slide17.xml" Id="Ra32be09a0bcf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85927ae34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766b5e3af54c73" /><Relationship Type="http://schemas.openxmlformats.org/officeDocument/2006/relationships/notesMaster" Target="/ppt/notesMasters/notesMaster1.xml" Id="R5555c7045661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00ee1bc6444f9f" /><Relationship Type="http://schemas.openxmlformats.org/officeDocument/2006/relationships/notesMaster" Target="/ppt/notesMasters/notesMaster1.xml" Id="Re47fb4465171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d839255814d66" /><Relationship Type="http://schemas.openxmlformats.org/officeDocument/2006/relationships/notesMaster" Target="/ppt/notesMasters/notesMaster1.xml" Id="R257f8547ecba48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f937622c2e413e" /><Relationship Type="http://schemas.openxmlformats.org/officeDocument/2006/relationships/notesMaster" Target="/ppt/notesMasters/notesMaster1.xml" Id="R7b63d16cf95a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8fc56561874360" /><Relationship Type="http://schemas.openxmlformats.org/officeDocument/2006/relationships/notesMaster" Target="/ppt/notesMasters/notesMaster1.xml" Id="R183df198273040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f0df208a9a4dd2" /><Relationship Type="http://schemas.openxmlformats.org/officeDocument/2006/relationships/notesMaster" Target="/ppt/notesMasters/notesMaster1.xml" Id="R52582ca1b1fe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bf48eaf2e5427f" /><Relationship Type="http://schemas.openxmlformats.org/officeDocument/2006/relationships/notesMaster" Target="/ppt/notesMasters/notesMaster1.xml" Id="R82e7dcd816484c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bfc03782404fb0" /><Relationship Type="http://schemas.openxmlformats.org/officeDocument/2006/relationships/notesMaster" Target="/ppt/notesMasters/notesMaster1.xml" Id="R6b99bb23dacb40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247f95d704899" /><Relationship Type="http://schemas.openxmlformats.org/officeDocument/2006/relationships/notesMaster" Target="/ppt/notesMasters/notesMaster1.xml" Id="R1670f0e496034b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8288d6abb482a" /><Relationship Type="http://schemas.openxmlformats.org/officeDocument/2006/relationships/notesMaster" Target="/ppt/notesMasters/notesMaster1.xml" Id="R0723279a16644d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1dc39cf4034777" /><Relationship Type="http://schemas.openxmlformats.org/officeDocument/2006/relationships/notesMaster" Target="/ppt/notesMasters/notesMaster1.xml" Id="R71abd37de1bd40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a74d2638ce44d6" /><Relationship Type="http://schemas.openxmlformats.org/officeDocument/2006/relationships/notesMaster" Target="/ppt/notesMasters/notesMaster1.xml" Id="R2f2d24927e834f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dcb1c2a0254244" /><Relationship Type="http://schemas.openxmlformats.org/officeDocument/2006/relationships/notesMaster" Target="/ppt/notesMasters/notesMaster1.xml" Id="Rceda156584a440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e03eec741c4bdb" /><Relationship Type="http://schemas.openxmlformats.org/officeDocument/2006/relationships/notesMaster" Target="/ppt/notesMasters/notesMaster1.xml" Id="R5b4cffd9868f4c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16403324224446" /><Relationship Type="http://schemas.openxmlformats.org/officeDocument/2006/relationships/notesMaster" Target="/ppt/notesMasters/notesMaster1.xml" Id="Rf7aef7fc27fb4e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3f06691e6645cd" /><Relationship Type="http://schemas.openxmlformats.org/officeDocument/2006/relationships/notesMaster" Target="/ppt/notesMasters/notesMaster1.xml" Id="R9a5b3260e7f940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cf5df031da4dfc" /><Relationship Type="http://schemas.openxmlformats.org/officeDocument/2006/relationships/notesMaster" Target="/ppt/notesMasters/notesMaster1.xml" Id="R54bff8ee705a49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Otvaranje: aplikacija ne pokušava da bude samo spisak. Ona povezuje proizvode, cene i lokacije, a zatim pravi plan kupovine.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/var/folders/_t/g1zvwzms2bl808h3k5ctpmxm0000gn/T/TemporaryItems/NSIRD_screencaptureui_SsCpPG/Screenshot 2026-08-26 at 13.12.40.png</a:t>
            </a:r>
          </a:p>
          <a:p xmlns:a="http://schemas.openxmlformats.org/drawingml/2006/main">
            <a:r>
              <a:t>- /Users/milki/Documents/pametna-kupovina/pametna-kupovina-android/app/src/main/java/rs/pametnakupovina/app/ui/screens/RecommendationScreen.kt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Ovo je najkraći opis proizvoda. Tri faze su prepoznavanje, poređenje i optimizacija.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/Users/milki/Documents/pametna-kupovina/pametna-kupovina-backend/src/main/java/rs/pametnakupovina/backend/shoppinglist</a:t>
            </a:r>
          </a:p>
          <a:p xmlns:a="http://schemas.openxmlformats.org/drawingml/2006/main">
            <a:r>
              <a:t>- /Users/milki/Documents/pametna-kupovina/pametna-kupovina-android/app/src/main/java/rs/pametnakupovina/app/ui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je linearan i svaka stanica ima jednu glavnu odluku. Detalji proizvoda su sporedni izlaz iz spiska.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/Users/milki/Documents/pametna-kupovina/pametna-kupovina-android/app/src/main/java/rs/pametnakupovina/app/ui</a:t>
            </a:r>
          </a:p>
          <a:p xmlns:a="http://schemas.openxmlformats.org/drawingml/2006/main">
            <a:r>
              <a:t>- /Users/milki/Documents/pametna-kupovina/pametna-kupovina-android/app/build.gradle.kts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ekranu se namerno vide cena korpe, put, broj stajanja, ukupni trošak i izvori cena. Sistem tako objašnjava svoju odluku.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/var/folders/_t/g1zvwzms2bl808h3k5ctpmxm0000gn/T/TemporaryItems/NSIRD_screencaptureui_26evO2/Screenshot 2026-08-26 at 13.12.59.png</a:t>
            </a:r>
          </a:p>
          <a:p xmlns:a="http://schemas.openxmlformats.org/drawingml/2006/main">
            <a:r>
              <a:t>- /Users/milki/Documents/pametna-kupovina/pametna-kupovina-android/app/src/main/java/rs/pametnakupovina/app/ui/screens/RecommendationScreen.kt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Telefon je klijent. Backend sadrži poslovna pravila. PostGIS čuva proizvode, cene i geografske tačke. Posebni radnik uvozi javne izvore.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/Users/milki/Documents/pametna-kupovina/pametna-kupovina-backend/pom.xml</a:t>
            </a:r>
          </a:p>
          <a:p xmlns:a="http://schemas.openxmlformats.org/drawingml/2006/main">
            <a:r>
              <a:t>- /Users/milki/Documents/pametna-kupovina/pametna-kupovina-android/app/build.gradle.kts</a:t>
            </a:r>
          </a:p>
          <a:p xmlns:a="http://schemas.openxmlformats.org/drawingml/2006/main">
            <a:r>
              <a:t>- /Users/milki/Documents/pametna-kupovina/infra/docker-compose.production.yml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MVVM odvaja ono što korisnik vidi od poslovnog stanja. Repository bira lokalni ili mrežni izvor. WorkManager bezbedno ponavlja sinhronizaciju.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/Users/milki/Documents/pametna-kupovina/pametna-kupovina-android/app/src/main/java/rs/pametnakupovina/app/data/ShoppingRepository.kt</a:t>
            </a:r>
          </a:p>
          <a:p xmlns:a="http://schemas.openxmlformats.org/drawingml/2006/main">
            <a:r>
              <a:t>- /Users/milki/Documents/pametna-kupovina/pametna-kupovina-android/app/src/main/java/rs/pametnakupovina/app/data/local/DraftItemEntity.kt</a:t>
            </a:r>
          </a:p>
          <a:p xmlns:a="http://schemas.openxmlformats.org/drawingml/2006/main">
            <a:r>
              <a:t>- /Users/milki/Documents/pametna-kupovina/pametna-kupovina-android/app/build.gradle.kts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Controller-Service-Repository je glavni slojeviti obrazac. Strategija bira način rutiranja, adapteri prevode spoljne izvore, a Spring radi dependency injection.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/Users/milki/Documents/pametna-kupovina/pametna-kupovina-backend/src/main/java/rs/pametnakupovina/backend</a:t>
            </a:r>
          </a:p>
          <a:p xmlns:a="http://schemas.openxmlformats.org/drawingml/2006/main">
            <a:r>
              <a:t>- /Users/milki/Documents/pametna-kupovina/pametna-kupovina-backend/pom.xml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product čuva tačan barkod. Product family grupiše semantički isti proizvod. Product identity candidate čuva sumnjive duplikate za ljudsku proveru. Private-label vlasništvo sprečava nelogična poređenja.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/Users/milki/Documents/pametna-kupovina/pametna-kupovina-backend/src/main/resources/db/migration/V13__create_canonical_product.sql</a:t>
            </a:r>
          </a:p>
          <a:p xmlns:a="http://schemas.openxmlformats.org/drawingml/2006/main">
            <a:r>
              <a:t>- /Users/milki/Documents/pametna-kupovina/pametna-kupovina-backend/src/main/resources/db/migration/V28__add_source_registry_and_product_taxonomy.sql</a:t>
            </a:r>
          </a:p>
          <a:p xmlns:a="http://schemas.openxmlformats.org/drawingml/2006/main">
            <a:r>
              <a:t>- /Users/milki/Documents/pametna-kupovina/pametna-kupovina-backend/src/main/resources/db/migration/V34__build_product_catalog_families.sql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Current_price_offer je read model za brza pitanja. Price_observation je istorija promena. Ovo odvaja čest upit od velikog arhivskog dnevnika.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/Users/milki/Documents/pametna-kupovina/pametna-kupovina-backend/src/main/resources/db/migration/V2__create_price_import_tables.sql</a:t>
            </a:r>
          </a:p>
          <a:p xmlns:a="http://schemas.openxmlformats.org/drawingml/2006/main">
            <a:r>
              <a:t>- /Users/milki/Documents/pametna-kupovina/pametna-kupovina-backend/src/main/resources/db/migration/V23__add_store_price_scope.sql</a:t>
            </a:r>
          </a:p>
          <a:p xmlns:a="http://schemas.openxmlformats.org/drawingml/2006/main">
            <a:r>
              <a:t>- /Users/milki/Documents/pametna-kupovina/pametna-kupovina-backend/src/main/resources/db/migration/V36__classify_uncategorized_products_and_ignore_zero_prices.sql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Prva polovina šeme prikazuje tačan proizvod, porodicu, trgovca, fizičku prodavnicu i dva načina čuvanja cena. Veze su pojednostavljene radi čitljivosti; nisu prikazane sve kolone i pomoćne tabele.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/Users/milki/Documents/pametna-kupovina/pametna-kupovina-backend/src/main/resources/db/migration/V2__create_price_import_tables.sql</a:t>
            </a:r>
          </a:p>
          <a:p xmlns:a="http://schemas.openxmlformats.org/drawingml/2006/main">
            <a:r>
              <a:t>- /Users/milki/Documents/pametna-kupovina/pametna-kupovina-backend/src/main/resources/db/migration/V18__model_retailer_store_format_and_store.sql</a:t>
            </a:r>
          </a:p>
          <a:p xmlns:a="http://schemas.openxmlformats.org/drawingml/2006/main">
            <a:r>
              <a:t>- /Users/milki/Documents/pametna-kupovina/pametna-kupovina-backend/src/main/resources/db/migration/V23__add_store_price_scope.sql</a:t>
            </a:r>
          </a:p>
          <a:p xmlns:a="http://schemas.openxmlformats.org/drawingml/2006/main">
            <a:r>
              <a:t>- /Users/milki/Documents/pametna-kupovina/pametna-kupovina-backend/src/main/resources/db/migration/V34__build_product_catalog_families.sql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Druga polovina šeme prikazuje spisak, predlog uparivanja, audit povratne informacije i operativni trag uvoza. Identity candidate je mesto za rešavanje duplikata bez opasnog automatskog spajanja.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/Users/milki/Documents/pametna-kupovina/pametna-kupovina-backend/src/main/resources/db/migration/V7__create_shopping_lists.sql</a:t>
            </a:r>
          </a:p>
          <a:p xmlns:a="http://schemas.openxmlformats.org/drawingml/2006/main">
            <a:r>
              <a:t>- /Users/milki/Documents/pametna-kupovina/pametna-kupovina-backend/src/main/resources/db/migration/V16__add_product_match_decisions.sql</a:t>
            </a:r>
          </a:p>
          <a:p xmlns:a="http://schemas.openxmlformats.org/drawingml/2006/main">
            <a:r>
              <a:t>- /Users/milki/Documents/pametna-kupovina/pametna-kupovina-backend/src/main/resources/db/migration/V17__add_product_match_feedback_audit.sql</a:t>
            </a:r>
          </a:p>
          <a:p xmlns:a="http://schemas.openxmlformats.org/drawingml/2006/main">
            <a:r>
              <a:t>- /Users/milki/Documents/pametna-kupovina/pametna-kupovina-backend/src/main/resources/db/migration/V29__add_import_worker_heartbeat.sql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 razmatra kandidate u radijusu i evaluira jednu prodavnicu i sve parove. Preporučeni balans uključuje put, vreme i kaznu po stajanju. Konstante su trenutno konfiguracione vrednosti.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/Users/milki/Documents/pametna-kupovina/pametna-kupovina-backend/src/main/resources/application.properties</a:t>
            </a:r>
          </a:p>
          <a:p xmlns:a="http://schemas.openxmlformats.org/drawingml/2006/main">
            <a:r>
              <a:t>- /Users/milki/Documents/pametna-kupovina/pametna-kupovina-backend/src/main/java/rs/pametnakupovina/backend/shoppinglist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je linearan i svaka stanica ima jednu glavnu odluku. Detalji proizvoda su sporedni izlaz iz spiska.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/Users/milki/Documents/pametna-kupovina/pametna-kupovina-android/app/src/main/java/rs/pametnakupovina/app/ui</a:t>
            </a:r>
          </a:p>
          <a:p xmlns:a="http://schemas.openxmlformats.org/drawingml/2006/main">
            <a:r>
              <a:t>- /Users/milki/Documents/pametna-kupovina/pametna-kupovina-android/app/build.gradle.kts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Lokacija je request-only. Produkcijski compose već odvaja backend, import worker, bazu, backup i Caddy. Ipak, anonimni client token nije zamena za pravi korisnički nalog.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/Users/milki/Documents/pametna-kupovina/pametna-kupovina-backend/src/main/resources/application.properties</a:t>
            </a:r>
          </a:p>
          <a:p xmlns:a="http://schemas.openxmlformats.org/drawingml/2006/main">
            <a:r>
              <a:t>- /Users/milki/Documents/pametna-kupovina/infra/docker-compose.production.yml</a:t>
            </a:r>
          </a:p>
          <a:p xmlns:a="http://schemas.openxmlformats.org/drawingml/2006/main">
            <a:r>
              <a:t>- /Users/milki/Documents/pametna-kupovina/pametna-kupovina-android/app/src/main/java/rs/pametnakupovina/app/ui/screens/LocationScreen.kt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Brojevi su iz svežeg lokalnog pokretanja: backend testovi i Android unit/build. Instrumentation testovi postoje, ali nisu ponovo pokrenuti za ovaj dokument.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Lokalno izvršenje: ./mvnw test, 2026-08-30</a:t>
            </a:r>
          </a:p>
          <a:p xmlns:a="http://schemas.openxmlformats.org/drawingml/2006/main">
            <a:r>
              <a:t>- Lokalno izvršenje: ./gradlew testDebugUnitTest assembleDebug, 2026-08-30</a:t>
            </a:r>
          </a:p>
          <a:p xmlns:a="http://schemas.openxmlformats.org/drawingml/2006/main">
            <a:r>
              <a:t>- /Users/milki/Documents/pametna-kupovina/pametna-kupovina-backend/src/test</a:t>
            </a:r>
          </a:p>
          <a:p xmlns:a="http://schemas.openxmlformats.org/drawingml/2006/main">
            <a:r>
              <a:t>- /Users/milki/Documents/pametna-kupovina/pametna-kupovina-android/app/src/androidTest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Prioritet nije još tabela, već operativni proces oko postojeće šeme identiteta. Zatim produkcijska pouzdanost, pa optimizacija skale i realno rutiranje.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/Users/milki/Documents/pametna-kupovina/pametna-kupovina-backend/src/main/resources/db/migration/V34__build_product_catalog_families.sql</a:t>
            </a:r>
          </a:p>
          <a:p xmlns:a="http://schemas.openxmlformats.org/drawingml/2006/main">
            <a:r>
              <a:t>- /Users/milki/Documents/pametna-kupovina/infra/docker-compose.production.yml</a:t>
            </a:r>
          </a:p>
          <a:p xmlns:a="http://schemas.openxmlformats.org/drawingml/2006/main">
            <a:r>
              <a:t>- /Users/milki/Documents/pametna-kupovina/pametna-kupovina-backend/src/main/resources/application.properties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Zaključak: funkcionalno jezgro je završeno. Najveći rizici su kvalitet kataloga i produkcijska pouzdanost, a ne osnovni tok aplikacije.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/Users/milki/Documents/pametna-kupovina</a:t>
            </a:r>
          </a:p>
          <a:p xmlns:a="http://schemas.openxmlformats.org/drawingml/2006/main">
            <a:r>
              <a:t>- /private/tmp/pametna-kupovina-presentation-20260830/source-notes.txt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e57560a94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2bb315791469a" /><Relationship Type="http://schemas.openxmlformats.org/officeDocument/2006/relationships/slideLayout" Target="/ppt/slideLayouts/slideLayout1.xml" Id="R0bd59572752a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59572752a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be34899a48c4" /><Relationship Type="http://schemas.openxmlformats.org/officeDocument/2006/relationships/image" Target="/ppt/media/image.png" Id="R249e9108c21f4c5f" /><Relationship Type="http://schemas.openxmlformats.org/officeDocument/2006/relationships/notesSlide" Target="/ppt/notesSlides/notesSlide1.xml" Id="R7d3568c0eca54a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1283267394b75" /><Relationship Type="http://schemas.openxmlformats.org/officeDocument/2006/relationships/notesSlide" Target="/ppt/notesSlides/notesSlide2.xml" Id="Rbf8fe9b836fa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94a52fc24298" /><Relationship Type="http://schemas.openxmlformats.org/officeDocument/2006/relationships/notesSlide" Target="/ppt/notesSlides/notesSlide3.xml" Id="R7e3038866bb1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7ac0039fe4a0a" /><Relationship Type="http://schemas.openxmlformats.org/officeDocument/2006/relationships/image" Target="/ppt/media/image2.png" Id="R3c7880b3f24d4d3b" /><Relationship Type="http://schemas.openxmlformats.org/officeDocument/2006/relationships/notesSlide" Target="/ppt/notesSlides/notesSlide4.xml" Id="R38d2374bcdc745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54bbce1764818" /><Relationship Type="http://schemas.openxmlformats.org/officeDocument/2006/relationships/notesSlide" Target="/ppt/notesSlides/notesSlide5.xml" Id="R866982d26324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fcc59fe544a93" /><Relationship Type="http://schemas.openxmlformats.org/officeDocument/2006/relationships/notesSlide" Target="/ppt/notesSlides/notesSlide6.xml" Id="Rd98230b459c348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c064a894742ca" /><Relationship Type="http://schemas.openxmlformats.org/officeDocument/2006/relationships/notesSlide" Target="/ppt/notesSlides/notesSlide7.xml" Id="R35bd95ad084f4b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f8fb8e5dc4daa" /><Relationship Type="http://schemas.openxmlformats.org/officeDocument/2006/relationships/notesSlide" Target="/ppt/notesSlides/notesSlide8.xml" Id="Re8cfa719c56f43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3c22473934e31" /><Relationship Type="http://schemas.openxmlformats.org/officeDocument/2006/relationships/notesSlide" Target="/ppt/notesSlides/notesSlide9.xml" Id="R18399aa4fc47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8eac080e94d92" /><Relationship Type="http://schemas.openxmlformats.org/officeDocument/2006/relationships/notesSlide" Target="/ppt/notesSlides/notesSlide10.xml" Id="Rd3482b977e9e43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6414f94e146ed" /><Relationship Type="http://schemas.openxmlformats.org/officeDocument/2006/relationships/notesSlide" Target="/ppt/notesSlides/notesSlide11.xml" Id="R9c0d66c4706146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b1c6eab14822" /><Relationship Type="http://schemas.openxmlformats.org/officeDocument/2006/relationships/notesSlide" Target="/ppt/notesSlides/notesSlide12.xml" Id="R92896abb97ae45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9c07e93db4af3" /><Relationship Type="http://schemas.openxmlformats.org/officeDocument/2006/relationships/notesSlide" Target="/ppt/notesSlides/notesSlide13.xml" Id="Rf89d2a049f9a40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8eb700b94c5c" /><Relationship Type="http://schemas.openxmlformats.org/officeDocument/2006/relationships/notesSlide" Target="/ppt/notesSlides/notesSlide14.xml" Id="R60a71e266c4c4b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d328b88e4ff2" /><Relationship Type="http://schemas.openxmlformats.org/officeDocument/2006/relationships/notesSlide" Target="/ppt/notesSlides/notesSlide15.xml" Id="R148f60ba292942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470850a414a0f" /><Relationship Type="http://schemas.openxmlformats.org/officeDocument/2006/relationships/notesSlide" Target="/ppt/notesSlides/notesSlide16.xml" Id="Rde28c592dcc246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e40f82d8c4d0a" /><Relationship Type="http://schemas.openxmlformats.org/officeDocument/2006/relationships/notesSlide" Target="/ppt/notesSlides/notesSlide17.xml" Id="Rcac000b5cb1a46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32495E-530B-4D50-8C42-25482F4F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4D67EB-F418-4187-93B1-533A47F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0472FE-B13B-4CC0-B8B4-ADF47292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Od spiska do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pametne rute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5113A0-F2ED-44AA-8E04-9B84EDF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Tehnički pregled objašnjen jednostavno: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kao kuhinja, sveska i pametan kalkulator.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5CEA882-044B-446E-A447-258680D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333D928-7C5B-4B95-AD74-AD25FD0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ANDROID + SPRING BOOT + POSTGIS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1D0123E-EB52-4E5A-90F7-40BEDF8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40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Stanje projekta • 30. avgust 2026.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C2603-4B5C-4A4B-A5D8-EE93DE28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0050"/>
            <a:ext cx="4572000" cy="59436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e9108c21f4c5f"/>
          <a:stretch xmlns:a="http://schemas.openxmlformats.org/drawingml/2006/main"/>
        </p:blipFill>
        <p:spPr>
          <a:xfrm xmlns:a="http://schemas.openxmlformats.org/drawingml/2006/main">
            <a:off x="7479881" y="590550"/>
            <a:ext cx="3042488" cy="5562600"/>
          </a:xfrm>
          <a:prstGeom xmlns:a="http://schemas.openxmlformats.org/drawingml/2006/main" prst="roundRect">
            <a:avLst>
              <a:gd name="adj" fmla="val 5584"/>
            </a:avLst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A47266-8E43-4BA6-BF99-F55F071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TEHNIČKI PREGLED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B80658-E9F4-43ED-A4AF-DA8CE6D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796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97E6A03-6A5D-43A2-82DB-A41290D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SUŠTINA PROJEKTA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B34E39-63D2-4BF7-994D-09FA897C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Jedna rečenica: od spiska pravi tri plana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7D358AD-41AB-4CE1-A322-AA5ADC68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01701E-29CF-4227-AD8E-767DC47B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0FB302C-5480-49FF-BA7D-5F61BF7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339C6A7-99F0-42CF-9DB6-435DCE8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715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Korisnik napiše šta mu treba. Sistem pronađe šta je to, pogleda gde košta koliko i predloži kako da se kupi.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95F92FB8-3E59-4516-AC58-915552FB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1907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39D369A-F88C-462E-BD46-66808653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0CFCA44-F8EA-4431-9B2D-966F7326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81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BE1349-3155-4586-9074-A33E8E7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669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Prepoznaj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CBF3509-A094-4752-A7FC-4A60D743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66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Naziv ili barkod postaje tačan proizvod ili porodica.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6E215AD-0ADF-41F9-B160-35E69FA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0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410EB6-68CA-4207-ADAC-5C3C1CEE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969EDC4-9654-4CCA-99C6-D54A0C2A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4325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Uporedi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36F70C7-2AC4-422B-946E-73CC904B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433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Sveže ponude se porede u obližnjim prodavnicama.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3421BA3-84A4-4237-B201-5C8F581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E07823A-14E7-49D1-B0EE-1444CC9E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339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59D0F09-959F-44E9-8139-3C110E6E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196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Isplaniraj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159F01F-854F-4155-A011-04EE93D1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196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Jedna radnja, balans ili najniža cena.</a:t>
            </a:r>
          </a:p>
        </p:txBody>
      </p:sp>
    </p:spTree>
    <p:extLst>
      <p:ext uri="{BB962C8B-B14F-4D97-AF65-F5344CB8AC3E}">
        <p14:creationId xmlns:p14="http://schemas.microsoft.com/office/powerpoint/2010/main" val="447219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0ACEE8-954C-427B-9112-C170C770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UI TOK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9F18F5-57C3-4069-895F-80F07125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Put korisnika kroz aplikaciju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163E249-1472-4BCD-8E41-60552461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8D395D-C644-4703-B8BC-240A61A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A8AFF1-459F-4507-B435-325E32DD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864760CE-80A8-476C-A2E1-501DE60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FE87AE4-3DA1-4904-AD13-97D034B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F5B5DD3-13CF-4FC8-AE01-E8DEE49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A985880-2A4A-47BD-A8E6-2EE6928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Spisak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F7387B-B871-4F55-8958-E43DAF7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Dodaj ili nalepi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više stavki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C12DBFA-A208-4732-B4E6-860AE53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178C49-9C5D-489D-BC8D-EB21C9F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109ED8-E8C6-438D-BEC7-73FBDCE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Provera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B8C9B28-4FBA-49F9-848B-363E84A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Potvrdi tačan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proizvod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CD1FF5E-68AD-4DAE-AE5E-9F1EA03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4458659-C2C5-4B92-BA50-90EA9EC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BFA4FED-19CD-45DA-AAF3-B4C31FE0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Lokacija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4EF67B-D481-4477-B282-FEA5C6D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Trenutna ili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ručni unos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3A37EAC6-93E6-4041-9A6C-2086D975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7FF263D-1959-47EF-98E1-905C6AD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E3F0444-9355-4A59-B747-21A17B7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Preporuke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3B8A4F5-D7E7-4680-846E-53ACF41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Tri različita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scenarija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EAC3CFE8-C6DB-4C2B-97BE-7F90AABC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D466EEC-9B2B-451F-8F7C-41B1CEE4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B3E6494-25B0-445C-B792-6CF396A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3B09C23-5F2A-48E9-8D9C-25BCB74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Ponude 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istorija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2B8D357-A478-45DB-8408-33A6621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823D29-352B-4CA6-BA0E-166E847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Detetu: svaki ekran je jedna stanica. Tehnički: Navigation Compose vodi stanje kroz list → matching → location →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755974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83080FF-DE37-4290-9608-589FDB3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UI, BEZ MAGIJE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6033E-F886-474C-9E6B-D9486850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Šta UI zapravo govori korisniku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7DE7800-66E9-4D1F-92E7-8F805BFD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48ABEF-9D6F-48A1-84F5-45DF9A8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6DE4E5C-2C8C-4A8B-9996-8FD4CE84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98C518B-9479-4D52-BB97-8D4CD315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514850" cy="45148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AFA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880b3f24d4d3b"/>
          <a:stretch xmlns:a="http://schemas.openxmlformats.org/drawingml/2006/main"/>
        </p:blipFill>
        <p:spPr>
          <a:xfrm xmlns:a="http://schemas.openxmlformats.org/drawingml/2006/main">
            <a:off x="1703015" y="1695450"/>
            <a:ext cx="2099421" cy="4324350"/>
          </a:xfrm>
          <a:prstGeom xmlns:a="http://schemas.openxmlformats.org/drawingml/2006/main" prst="roundRect">
            <a:avLst>
              <a:gd name="adj" fmla="val 4569"/>
            </a:avLst>
          </a:prstGeom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4B285CF-FBCE-4015-91B2-DB6643C1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55626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966D5CC-EE4C-46BD-AF34-7D76A60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A17176C-441A-41B3-B3E7-D0099B87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85950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Jedna prodavnica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5AC179F-F10E-4F20-BBF2-215C7A2C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Najmanje stajanja. Može biti skuplje, ali je najjednostavnije.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BA464C-3B21-4B0C-B734-78E92809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5562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74BC14A-CCE5-434F-8FEB-F3E92BB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1A4988-22E0-45A5-9822-131D09B9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38500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Preporučeni balans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84DA5FC-EA47-4D5D-91B4-775B77EE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0450"/>
            <a:ext cx="518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Cena + put + vreme + broj stajanja. Ovo je podrazumevani pametan kompromis.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A891755-029E-4478-BB1D-B92413AE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5562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2BBCF65-B9C2-4E1C-AB58-A26166A0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BA05596-9E49-4368-926F-72402BE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24400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Najniža cena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E9D90FC-843E-4F61-9F0F-8414FD2C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86350"/>
            <a:ext cx="518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Najjeftinija korpa; put nije razlog za rangiranje. Može tražiti dve prodavnice.</a:t>
            </a:r>
          </a:p>
        </p:txBody>
      </p:sp>
    </p:spTree>
    <p:extLst>
      <p:ext uri="{BB962C8B-B14F-4D97-AF65-F5344CB8AC3E}">
        <p14:creationId xmlns:p14="http://schemas.microsoft.com/office/powerpoint/2010/main" val="1018244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15029C5-B2E6-481A-8FFF-E2C1113D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ARHITEKTURA SISTEMA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AE03FE-682E-4523-AD71-8EF72CB9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Velika slika: sveska, kuhinja i magacin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0E3B519C-F030-4E55-9709-9BFA95C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5AC7897-8FF8-4C4F-94E5-6071267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10B978-0D85-4D07-8C6A-34552D9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912333B-950D-48EE-8C05-3DD7DD11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432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16B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8DC479EC-AA02-40D4-B564-5117575C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43250"/>
            <a:ext cx="177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16B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7DF3D9A-D2F3-403E-903F-BF828D6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432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16B"/>
            </a:solidFill>
            <a:prstDash val="solid"/>
          </a:ln>
        </p:spPr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08C0CF3D-E9C3-431C-A862-F85F61DF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05275"/>
            <a:ext cx="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616B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67AE1F1-22AD-4251-B096-A077C4BA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573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CBAB332-8AA8-4A06-8A88-E48B7C0F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8AEDFFB-EC86-4E5E-AE07-81FE104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476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Android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015EC32-C0F3-4C34-A18E-B1FF7869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47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Sveska u džepu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Compose + Room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FF3B41D-05E3-44F5-8329-5B1DF916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7907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1D50959-30F9-4C95-8BAB-4BA73FB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6A6AC76-E9E2-4997-AA0F-24539DD6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52700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REST API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C9607C3-FF00-4F19-9525-F937F9BE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146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Vrata kuhinje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Spring MVC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2A3C14F-1733-472B-9BDB-1872661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17907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F70403D-7E3E-408D-B38F-07C6F47D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531BB1-D785-4B51-B4BB-0B223477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52700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Servisi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6CFBC7A-20D0-418F-8604-3EF64ED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146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Kuvar koji računa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Spring Boot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C0F8325-2836-4E71-A690-7236A67B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81250"/>
            <a:ext cx="178117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B4DB23E-F830-474C-B135-A2F910B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81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994C737-988B-4C9D-8112-0453A3C6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52700"/>
            <a:ext cx="1400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PostGIS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96CDF63-9BE1-455B-9B1A-6D9E3E1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14650"/>
            <a:ext cx="14001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Magacin činjenica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PostgreSQL 16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830986E9-0809-4219-B348-6E1D3006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14900"/>
            <a:ext cx="3619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C321524-659B-475C-842C-F80A11E9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673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Uvozi cena i lokacija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692EEB1-FEEC-4C6A-AD92-6B3B96B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625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državni CSV • Maxi • Lidl • DIS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522A282-7055-410F-8CBE-E44A1B6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← HTTPS / JSON →</a:t>
            </a:r>
          </a:p>
        </p:txBody>
      </p:sp>
    </p:spTree>
    <p:extLst>
      <p:ext uri="{BB962C8B-B14F-4D97-AF65-F5344CB8AC3E}">
        <p14:creationId xmlns:p14="http://schemas.microsoft.com/office/powerpoint/2010/main" val="689529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B056685-4EC3-46F8-B28E-7433974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MVVM + OFFLINE-FIRST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748E07-7281-4EAC-91CA-8D58BA7E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Android: radi i kada mreža štuca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289F6B8-0031-40D7-8A77-1208B0B5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8CD7DD-44F1-4014-B148-6CCFED5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2391473-0147-4B4E-AFB5-A31C965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F136FCF-8BC5-45FA-BE49-9206DB7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146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827CE6D8-2424-456B-B354-2F7F2149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296D603-275C-4AC3-8243-31CF4D8F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58250" y="2133600"/>
            <a:ext cx="16192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B374E859-3593-4FE5-94C7-CE8BF222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6192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2D257D2-435D-40EF-BE88-C7EBAE7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20764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FB79B9F-C0D3-4E36-9C2F-DBCE52F2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7A780C-A1D2-4EFC-A68A-E292603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Compose UI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BB41FE7-7262-4A41-9AF7-E051CB6A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Ekrani i događaji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7D7185-C3A9-4F1B-9F25-1CE4592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0764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E75DE0F-D7A7-4353-A2B3-36DE2964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2E78D55-F7D9-4EB7-80FC-283A6E78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ViewModel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CF278A2-57AB-4E0B-8DD3-0B55EC7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1695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Drži stanje ekrana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219BBA3-91E0-46F3-8635-07893D3C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590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7AF93C1-5B7D-49AE-84A9-0FA840E1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76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4889F61-32C3-4FCD-A67E-5C355E30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2D94878-829C-4E37-ABA7-18580B3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Jedno mesto za podatke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4A9A852-20FA-4697-B667-36B6AE0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18478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1476826-F849-4C90-A63A-BD06956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81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2CC1437-52CB-49F9-8368-04CFFE0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5260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Room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E354983-9C20-4A84-96EA-B497471E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145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Lokalna sveska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6B2A32D-D407-470B-9C3B-6C8BC7DD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67100"/>
            <a:ext cx="184785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92F7DEF-EC24-442A-9FA5-4A03EB5A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671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5F304CB-4B6B-4A60-8327-831B218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38550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Retrofit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81D6062-0781-4224-8211-90DC829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005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Poziv serveru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8380734-9852-4450-A358-6DDD88DB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54673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5A677E0-045F-4750-AF48-0B3F0219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497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WorkManager ponavlja neuspele izmene; Hilt povezuje delove; DataStore čuva anonimni token.</a:t>
            </a:r>
          </a:p>
        </p:txBody>
      </p:sp>
    </p:spTree>
    <p:extLst>
      <p:ext uri="{BB962C8B-B14F-4D97-AF65-F5344CB8AC3E}">
        <p14:creationId xmlns:p14="http://schemas.microsoft.com/office/powerpoint/2010/main" val="286855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225495D-C740-4EDF-BC5D-62863EA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LAYERED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531703-ABC5-443B-976B-001B6DF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Backend: kuhinja sa jasnim radnim stanicama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F9A557BB-91A0-41FA-96CA-FB4114CB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E8C4281-C853-402D-B3DF-5097C23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8A3057C-92C5-43F5-B3E4-18455C7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CABE806-FDBD-41BB-994C-C64A5835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6C5429D4-B78B-4BFA-9810-4AD9F2CA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902BE78-7669-4962-A4AA-F19A55C2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764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A8F19D-700D-4D6A-AA91-7B3B972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3CE2F24-932B-4C9F-92DC-64B6916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Controller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7838EEC-7F9A-4D96-BA6F-188ED755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Prima zahtev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validira ulaz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116F58-81E0-4409-BAA0-E25526B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19240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BE371C-FA48-438D-91CE-F7DDC17D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9CC2E14-1D84-4998-A563-2B210F8B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A1E4C2-EF8F-4198-BDF9-2588C744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Primeni pravila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 izračunaj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0390E06-F6D2-4CC0-845C-08C4BAF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1336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A7EE34D-8DC5-426F-B778-7D583315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3F45DF-98C9-4F76-AC42-FDA3FAC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9A5CE03-3F33-4886-9B0E-1C62758A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Čita i piše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SQL podatke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E69A389-8A80-4F0E-AEA4-111FCFC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95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obrazac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5CC6B90-DECC-4D9C-BEE9-530E05A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95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obrazac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650771A-EADE-49C1-ACA8-5C5D3A0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CD628B1-F0CC-4FD8-8692-F42B26E4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Prava ruta ili procena lenjirom: OSRM ↔ straight line.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3E3A433-8837-4188-A2C3-A9DAB9F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86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Adapter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FAF04BD-186C-46D2-BD36-4C1E602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57725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Svaki izvor cena govori drugačije; adapter ih prevodi.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7977862-772A-4BF5-ACD2-9680390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86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Dependency Injection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0944494-AC0E-493C-80ED-C28F379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57725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Spring spaja komponente bez ručnog lepljenja.</a:t>
            </a:r>
          </a:p>
        </p:txBody>
      </p:sp>
    </p:spTree>
    <p:extLst>
      <p:ext uri="{BB962C8B-B14F-4D97-AF65-F5344CB8AC3E}">
        <p14:creationId xmlns:p14="http://schemas.microsoft.com/office/powerpoint/2010/main" val="566167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BB95DB2-98E3-426A-80ED-AAA58FF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IDENTITET PROIZVODA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C7FD05-C8D2-474B-91E7-BBF78CA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Barkod je lična karta; porodica je prezime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9DB8FB16-EA88-4D36-9ABD-70959707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035FB0-FF38-407E-9753-3473657F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F04E57-444B-4ACD-90C8-B765C25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C53392ED-8DB6-408C-8BE7-02E24B2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883539E8-449B-4FF2-8386-98424EB9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CBF82149-E156-436A-A9E2-E5B79904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908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B1EFDC5-2718-4BEE-9A40-82CB7B7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9431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CA4C94-8B0D-44E5-8C97-B35D8D3C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FB9AF94-DCCC-4FDE-972A-EC38C11E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6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Sirovi naziv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4D6290-CCDD-4C89-803D-FFD01B39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„Grčki jogurt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500 g, 16%”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F9CE9D-9E78-457E-8284-357DE6D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20764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8AEEC57-A970-4F56-AD50-7AD776BE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8F2F553-5747-43A8-A0A1-391A8735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4BA9882-B792-4D61-B376-C5A3E33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Tačan GTIN / barkod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jedan SKU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B04D77E-05DC-4C5D-BC92-F00D4317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20764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1B8D5C-6627-451A-8EA2-BE91CE4A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09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F015C33-4DB1-43DD-93EF-3E8BC28D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 family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F0E0F76-DBD1-4940-A271-3D55CFE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43200"/>
            <a:ext cx="1695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Ista stvar, različit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barkod ili pakovanje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7BB5196-E3DA-486B-BCFE-D2F1C062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1504950" cy="156210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6CBE5D8-DE98-46A7-A60E-4172E1F0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098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13BDFA-555C-47EE-ACE2-8268FB22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12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B650F51-055B-4CAF-BDB1-3FE9C3E8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43200"/>
            <a:ext cx="1123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Jogurt, hleb,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voda…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740AB19-5A65-4E1B-A432-21A427AC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6489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AD72566-155F-410E-9471-DFD89AB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Privatne marke su vlasništvo lanca: Premia → Maxi • K Plus → IDEA/Roda • Pilos → Lidl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A1C7061-D32D-42CE-9624-CEADC73F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Dva barkoda sa istim potpisom postaju kandidat za pregled — ne spajaju se naslepo.</a:t>
            </a:r>
          </a:p>
        </p:txBody>
      </p:sp>
    </p:spTree>
    <p:extLst>
      <p:ext uri="{BB962C8B-B14F-4D97-AF65-F5344CB8AC3E}">
        <p14:creationId xmlns:p14="http://schemas.microsoft.com/office/powerpoint/2010/main" val="3908593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DBA01AA-A893-4704-8C43-C842D40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TOK PODATAKA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962FF5-6278-484C-98ED-0D44792E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Cena ima tablu za danas i dnevnik za juče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C8C161F3-053B-43FE-96A0-948C551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CF6C6A-8037-4DD4-9ABA-004CE4AD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7A2C5F-64BB-4516-9405-242FC5C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E8858827-8C54-45CF-9EC1-5489A00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16B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4E81F6EC-CE1C-4726-B6AF-B9315259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57500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9616B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C670A78-51C0-4675-BC27-2A815860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382125" y="1990725"/>
            <a:ext cx="147637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616B"/>
            </a:solidFill>
            <a:prstDash val="solid"/>
          </a:ln>
        </p:spPr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F47EB87E-5BF8-46D6-8399-099CF7E7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67075"/>
            <a:ext cx="147637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616B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E360DE-0921-4081-AD9E-418CF904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1724025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6E1BAA-C72D-4C30-A579-303B484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9A8D6D3-E352-4235-9B05-B5C1803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Izvori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6A04DC-01EA-4A92-8F74-07AD70CA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343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CSV / API / feed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E1FB056-3609-4E4C-92F8-142F14E9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71700"/>
            <a:ext cx="1952625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1874123-581E-4A26-BBE8-15503693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717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1A10B2B-B2C8-4449-B3D7-B6E7D91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43150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Normalizacija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221CF4-141C-4886-9102-31357F6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05100"/>
            <a:ext cx="1571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Naziv, jedinica,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brend, kategorija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88CC577-76BB-47AC-9C46-91AA280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1971675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195D37-02C2-42C2-927F-5943BDC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7C00"/>
          </a:solidFill>
          <a:ln xmlns:a="http://schemas.openxmlformats.org/drawingml/2006/main" w="0">
            <a:solidFill>
              <a:srgbClr val="B17C00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C6C4B0-62D3-4841-B09B-70EF33B6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159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Validacija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7034B60-BE9E-4462-A0FC-56CDFED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1590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Datum, scope,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nulta cena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ED0ADE7-5A7D-47E6-B213-53DAF472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144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84DD755-4179-4627-94C1-A9E797A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14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84BB267-B696-4684-8702-C0EBBEE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8590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current_price_offer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50576F9-1C38-4E76-8D17-7795B97A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478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Brzo čitanje sada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4F4A1CD0-1EEF-462C-B6BF-CC610C4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2133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3C4E51D-1C2A-49AE-8211-1604B66F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5D46520-644C-43BB-A0BC-7F1C13F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57600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price_observation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04E3E4-545A-4AF4-888D-D5AD09D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195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Istorija promena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651370E2-7E09-4754-B6E8-F9BFABFA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91075"/>
            <a:ext cx="89916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3291BAF-8C08-4EBA-8984-90257AE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62525"/>
            <a:ext cx="842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Prioritet cene: STORE  &gt;  STORE_FORMAT  &gt;  RETAILER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FE06827-90CF-4C8A-84A7-1F04A375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05425"/>
            <a:ext cx="842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Popust važi samo u svom periodu; sveže ponude imaju prednost, a zastarele dobijaju upozorenje.</a:t>
            </a:r>
          </a:p>
        </p:txBody>
      </p:sp>
    </p:spTree>
    <p:extLst>
      <p:ext uri="{BB962C8B-B14F-4D97-AF65-F5344CB8AC3E}">
        <p14:creationId xmlns:p14="http://schemas.microsoft.com/office/powerpoint/2010/main" val="2042140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2BE850AD-43D1-4F36-A931-324E671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POSTGRESQL + POSTGIS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C9D368-A09F-4873-99D4-6A198B5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Šema baze I — katalog, prodavnice i cene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83974ABA-8DBD-4FDE-95CA-E8292A56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CD4A17-3AD0-4A42-80A4-03E8245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E34A31-FD53-43A5-BE13-F33064A6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EDB7067B-8056-4505-A5CA-AF0E93F6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3AEF996E-C7A0-4EA0-8E3A-9526A3E3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18478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325783D-1696-40A3-8D97-433CDDE6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1DA3B515-397F-4A81-A6F9-1065F52C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B431455E-CE2D-4A51-8B6C-648498B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FA4D59AB-36BD-4B9C-8A68-8000532A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16573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B805E1CE-73D6-42B9-8326-E30E417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62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E425FA44-C3B9-4BC8-B543-4630CA88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5ACA9A47-E656-4D85-860C-4171C0E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AA114E25-2862-42D2-82BC-3D866F74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05500" y="3962400"/>
            <a:ext cx="64770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6" name="Straight Connector 15">
            <a:extLst xmlns:a="http://schemas.openxmlformats.org/drawingml/2006/main">
              <a:ext uri="{FF2B5EF4-FFF2-40B4-BE49-F238E27FC236}">
                <a16:creationId xmlns:a16="http://schemas.microsoft.com/office/drawing/2014/main" id="{605A2E43-DCAA-4B36-95CE-C39FFD7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06754FDF-F39A-4658-A659-CD554F00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04800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9ABFBAD-B07B-4647-8E15-5EF1B5DD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DC16D45-4416-49DD-B78C-AB8817F6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retailer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979D7EB-A2EE-414C-AC10-8039106E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lanac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9537728-28B2-4C97-96B9-5A48572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09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289AD8C-D739-433F-BFC6-408B89CB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05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store_format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D50D31-BF0C-4D42-B422-BA913BF5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71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format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68D92D1-C1BE-43BA-9B86-67CB1C2A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198CBAC-06D6-4D66-B782-26CBBE14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19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store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72726AF-86CE-412E-8E9D-8196BA3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86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lokacija + tačka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BDDB45C-6D84-4758-9B18-4B5D01B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09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22F878E-4195-4540-AF02-9DDF9935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retailer_product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E1FA769-F701-42CB-BCA3-12DD7322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artikal trgovca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5A63E71-D464-4363-8749-AE083A6B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260B2C2-2E79-46EB-BA74-1EA49C40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canonical_product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4C4B6B4-7513-4C74-8599-9F4566B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tačan barkod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7001E62-8DFA-4BA5-9B8A-02DBF0E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ED38E8E-18E1-4153-BA75-9B4DA265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current_price_offer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3A316E1-E842-4A22-AF41-2E37D85D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71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trenutna cena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8E5AD8CA-AE26-4650-B83C-603EA755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24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5E34A594-76F6-4392-A9E8-16160E50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price_observation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BB386941-05B4-4B07-B758-12077B92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86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istorija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08690319-1464-4885-AE7F-A415EA61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9F59F9C7-D678-4831-B021-B8896A8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brand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186AEEB-2219-40A8-B45C-622F0A8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brend / vlasnik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B8B241EC-D600-4104-9A76-D421F1FB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4AFE2A4D-1049-41CD-A9B1-5A681015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product_family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D951BE2-DE04-4FFE-AADA-01FAFA55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porodica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43CC0944-7E0A-4AE3-9441-78EC945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E28BAE62-BF3D-45E4-B067-02EC4A89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338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product_presence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94A29BEC-4335-4275-91B3-9C64C55A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005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gde se prodaje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83CEC9FE-E8DC-4DB3-A468-D5BAD05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10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EE27B47-34F8-45AD-B4A3-AD6ED33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05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product_category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3950FF8-C0CA-4AB2-B116-D30F1E50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72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taksonomija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30569828-1A01-471F-B23A-9D4157DF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9F808011-4058-4277-B918-A8AF2C23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family_member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A7C2C0A0-66FE-4883-AB4A-770687B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članstvo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3B6F0E6D-F909-4012-A799-B4544ECC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62650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Plavo = identitet i geografija  •  zeleno = brzi operativni pogled</a:t>
            </a:r>
          </a:p>
        </p:txBody>
      </p:sp>
    </p:spTree>
    <p:extLst>
      <p:ext uri="{BB962C8B-B14F-4D97-AF65-F5344CB8AC3E}">
        <p14:creationId xmlns:p14="http://schemas.microsoft.com/office/powerpoint/2010/main" val="98656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2DBAE262-F1C3-4DEA-B2DD-F58DC7E5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TOK ODLUKE I AUDIT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28A428-1889-4F22-BED5-74AEC36E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Šema baze II — spisak, uparivanje i uvoz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A587E92B-C7E8-4520-8ED2-1CAC76A2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23ADAD-E4C2-414D-B226-02F1E82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47D614-4DE4-45FA-8C5A-868BC94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146CBACC-A29D-4C9D-B71D-E17D6B3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86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396605A4-1622-4BE1-BA3A-E4DBAD0D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86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8DF8E12-3F87-432D-8F4C-E65E95C5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12598453-DC78-4C44-BD7F-3D17319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76970B99-9D00-49B8-B88E-B33A3F07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C4F33049-B2EE-4FA2-945F-B720018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098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6F46718B-012F-4686-BC54-3A1F506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006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C5CAEBCB-7D9B-40AB-834B-D752EB69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006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4A732D60-4906-4DB7-807A-B2BBE84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006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6640253-7743-4877-BD73-42F310C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4EFA636-FA49-41D8-9AE8-5FFA844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shopping_list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CE9FD82-42B7-4A08-AF3D-CCB78B8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spisak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CC706DD-C512-4E80-BC7D-A53CF7B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688CEF9-945F-4B0D-A426-7FAF0044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shopping_list_item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8894FB2-1188-4626-AEC9-C07D610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stavka + pravilo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FA05276-0432-45AF-B744-D9533A8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092730E-E1A1-4C09-8861-78968802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57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match_decision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3B422DF-4184-45B3-9910-E7A1DC0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24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predlog i ishod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367384B-C32A-4EBB-9F56-3E7E24F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621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E12CA1E-299F-434A-8C3D-F45EAA0D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574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match_feedback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A18DEB6-C135-4D59-8C6C-1F85F81F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241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nepromenljiv trag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45407E25-CD68-4FD2-BBBC-FDACD2F6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14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C6A5A6B-B7A7-4413-90DC-B91D7FD7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canonical_product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D65134A-9B89-4FC2-877E-01C49AE7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tačan proizvod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4BD2CEA-473C-48DD-81B2-2BC77CD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C63C935-42FE-43F6-8103-94F505A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product_family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CD40686-1FE3-4DB1-B36A-41AE8F7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76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porodica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AE284343-1DAF-467E-97F4-B47AB59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3BF363E-CDD2-440E-A892-1121991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000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identity_candidate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A113387-C9ED-4896-914C-206FDD8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sumnjivi duplikat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340704F2-9FB7-456F-883A-3048745D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1FF5B8B-0DC2-4739-BDF4-A767D36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retailer_data_source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66D14F6-C9B3-4037-A48A-115042DA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izvor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BBA5FC8-A7EA-4EE5-9C97-5264290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7680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C1B0937-6A97-47FD-B20F-E58F34BF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import_run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114B340-E1E0-48D5-843C-2644AD7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jedan uvoz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3C2F2A3A-6E7B-42E2-B196-B4A13B1B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CF0D33D6-4034-4299-ACEC-6F1100A1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720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heartbeat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D56FB1B-E1B3-451A-8B24-482EF23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radnik je živ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BA6812AE-809B-4374-A337-18F49A5F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76800"/>
            <a:ext cx="17907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55C4E4AA-549D-4D9C-A651-64FA6A13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720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/ history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A5CDC9A3-866A-421B-82BE-22698E60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38750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rezultat uvoza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24A95216-7190-4D4C-836C-61EDC526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626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Žuta = odluka koja traži objašnjenje ili ljudsku proveru</a:t>
            </a:r>
          </a:p>
        </p:txBody>
      </p:sp>
    </p:spTree>
    <p:extLst>
      <p:ext uri="{BB962C8B-B14F-4D97-AF65-F5344CB8AC3E}">
        <p14:creationId xmlns:p14="http://schemas.microsoft.com/office/powerpoint/2010/main" val="361711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955773D-1F0A-448B-84F8-37DB225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OPTIMIZACIJA KUPOVINE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D59E9D-AA1B-4BC9-A43A-EE36063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Kako kalkulator bira plan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6433783-079F-4059-A147-9FFCE86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F044AEF-5CEF-471A-888A-CEAE109B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F58868-58FD-4289-A5F5-C959DE56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2952459-BF74-4AED-BF2A-950C5ED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12420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CAFA7B3-6E81-42E9-B2F2-0CB62ED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Jedna prodavnica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29D1F9E-F360-4468-A7F3-2DB92E53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EC711A5-E1CE-4DB6-8E26-C870DBA8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1 stajanje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48A67AD-FE36-48CC-862F-4488DA0F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Najjeftinija poznata kompletna korpa u jednoj radnji.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1C8B378-7933-4BA0-A2B5-EC2216FF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312420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D0F1529-1EA3-47F5-8DE7-850EC924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Preporučeni balans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F613874-CE22-4F0E-8E58-190264EA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6ED8E0D-F6A4-465F-BC06-B2A2EB4C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955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cena + put + vreme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AEE5B2F-A874-445D-8568-32A784F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Bira najbolji zbir svih realnih troškova.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02D1E7B-06ED-4F78-88A8-EB42A317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312420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A25FE1E-73EE-4CEA-AEA6-7816D64D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76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Najniža cena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D82CC85-1F9A-40E2-9B10-5274659B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B0F15D1-4311-4E79-8A65-0E392CC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955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1 ili 2 radnje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B248602-3116-4364-BA86-DDB47F5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Cena korpe je glavna; put ne menja rang.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4C3D025-BADC-4387-B163-6EB61D2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95250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5C665FA-8F09-40AD-9A03-AFD200E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244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Ukupno = korpa + kilometri × 20 RSD + vreme × 400 RSD/h + stajanja × 80 RSD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DD6948F-FA32-4F7D-B8ED-72CC395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Do 20 prodavnica u radijusu 15 km; proverava svaku jednu i svaki par.</a:t>
            </a:r>
          </a:p>
        </p:txBody>
      </p:sp>
    </p:spTree>
    <p:extLst>
      <p:ext uri="{BB962C8B-B14F-4D97-AF65-F5344CB8AC3E}">
        <p14:creationId xmlns:p14="http://schemas.microsoft.com/office/powerpoint/2010/main" val="1477729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0ACEE8-954C-427B-9112-C170C770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SLEDEĆI KORAK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9F18F5-57C3-4069-895F-80F07125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Plan postaje aktivan spisak za kupovinu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163E249-1472-4BCD-8E41-60552461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8D395D-C644-4703-B8BC-240A61A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A8AFF1-459F-4507-B435-325E32DD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864760CE-80A8-476C-A2E1-501DE60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FE87AE4-3DA1-4904-AD13-97D034B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F5B5DD3-13CF-4FC8-AE01-E8DEE49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A985880-2A4A-47BD-A8E6-2EE6928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Izaberi plan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1F7387B-B871-4F55-8958-E43DAF7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Jedna radnja,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balans ili cena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C12DBFA-A208-4732-B4E6-860AE53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178C49-9C5D-489D-BC8D-EB21C9F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109ED8-E8C6-438D-BEC7-73FBDCE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Počni kupovinu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B8C9B28-4FBA-49F9-848B-363E84A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Stavke su složene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 prodavnicama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CD1FF5E-68AD-4DAE-AE5E-9F1EA03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9525">
            <a:solidFill>
              <a:srgbClr val="2D8A57"/>
            </a:solidFill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4458659-C2C5-4B92-BA50-90EA9EC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BFA4FED-19CD-45DA-AAF3-B4C31FE0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Čekiraj stavke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4EF67B-D481-4477-B282-FEA5C6D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Kupljeno, zamena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ili preskoči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3A37EAC6-93E6-4041-9A6C-2086D975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7FF263D-1959-47EF-98E1-905C6AD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E3F0444-9355-4A59-B747-21A17B7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Idi dalje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3B8A4F5-D7E7-4680-846E-53ACF41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Mapa vodi do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sledeće radnje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EAC3CFE8-C6DB-4C2B-97BE-7F90AABC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28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D466EEC-9B2B-451F-8F7C-41B1CEE4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86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B3E6494-25B0-445C-B792-6CF396A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Završi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3B09C23-5F2A-48E9-8D9C-25BCB74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Sačuvaj zbir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 istoriju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2B8D357-A478-45DB-8408-33A6621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823D29-352B-4CA6-BA0E-166E847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Kao pravi papirni spisak: progres ostaje sačuvan, radi i bez mreže i jasno pokazuje šta je kupljeno ili još čeka.</a:t>
            </a:r>
          </a:p>
        </p:txBody>
      </p:sp>
    </p:spTree>
    <p:extLst>
      <p:ext uri="{BB962C8B-B14F-4D97-AF65-F5344CB8AC3E}">
        <p14:creationId xmlns:p14="http://schemas.microsoft.com/office/powerpoint/2010/main" val="17559743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CC50C9B-7353-4D95-8CF6-6553B3F4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PRIVATNOST I PRODUKCIJA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0B94AE-0CE2-4BBD-8519-2ECBB19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Lokacija je pozajmljena, ne prisvojena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204D619-9351-4279-ACE1-83F6EEE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A9F884-CC0D-4D96-91A7-3E83B9DD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750D9D-4293-4D80-BC13-D39DCB8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15CA97-3C34-4B7E-A6E0-82094109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44.2740, 19.8800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598041-4F76-4C73-A930-6748F95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Telefon šalje koordinate samo za jedno računanje. Backend ih ne čuva i ne upisuje u log.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BBE49A94-2575-4379-945B-8938E59C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FCE8A7E-5E17-4C42-B1E1-560A0D56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Vlasništvo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8C6FEE-1F8F-4CC7-B07D-C410CAD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X-Client-Token odvaja anonimne spiskove.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0CE6E4F-5094-4103-AEA3-684E2EC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Transport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CFB8EE-A271-47DA-BCEE-4F269499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Caddy + TLS štite saobraćaj.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88754A2-484E-4FAF-97DE-8BF2D45B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Operacije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6ECB94F-623A-4003-B031-CD698902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719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Admin ključ, health check, worker heartbeat.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F557DF9-C5EF-4ED5-ACEA-5A885CB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Oporavak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8216170-9BE4-4B1F-979A-35AE1BF1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Docker volume + profil za backup baze.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76E6234-71D3-4BF6-B5D4-3472747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7625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3CC"/>
          </a:solidFill>
          <a:ln xmlns:a="http://schemas.openxmlformats.org/drawingml/2006/main" w="9525">
            <a:solidFill>
              <a:srgbClr val="B17C00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8C4D86-29D9-4DA9-967D-AAF9EC2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Važno: anonimni token nije nalog. Za javni servis treba dodati rotaciju, rate-limit i jači audit.</a:t>
            </a:r>
          </a:p>
        </p:txBody>
      </p:sp>
    </p:spTree>
    <p:extLst>
      <p:ext uri="{BB962C8B-B14F-4D97-AF65-F5344CB8AC3E}">
        <p14:creationId xmlns:p14="http://schemas.microsoft.com/office/powerpoint/2010/main" val="130572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AC485C3-AA38-461B-8774-8C263A8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STANJE 30. 8. 2026.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EA5971-80DA-4B3E-8A0C-EA371DB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Šta je završeno — i šta smo upravo proverili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9A876A58-477E-4068-8EC7-ADF55EA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FDD1BCB-E07C-438D-9377-AAB4CF6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43EF83-C535-4798-8F2E-28753DE0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E2D5596-304F-4806-9145-502D8E5D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146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41AE38-282B-455A-9FF8-983905D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E6D6ADF-872A-421D-90C3-88FBBBEB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Flyway migracija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EA8DBBA-1656-434F-8BAF-4B3EBFF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146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CC9977A-D376-4C7A-AFEE-26838928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109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425366-8E1C-469C-B3BB-BBB4A066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backend testova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58A1837-D103-4295-B58B-1CEC97B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25146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6341BB-A144-4754-B074-349FF52E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1147A3A-B4CE-414B-8C43-3BAE238B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grešaka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D728458-D29B-4F21-96B8-8F4D268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5146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4B3FA21-2824-47C9-AA6D-A53348B0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3D7CA4-55C3-4B65-8DCA-6653A3A7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24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Android unit + build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A13EEAD-7C79-44DC-8CDF-87A04339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CDDF59F-70DF-4175-9F1A-F0AA6DA4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Pretraga i izbor canonical / family proizvoda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91AF318-DD47-4980-A0E2-A22C36EF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3EFF808-148E-4B64-9CB0-A6E4FD7E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Uparivanje, audit i fleksibilne kategorije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97EFE2F1-DD0C-40AC-B686-2EBC7E60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EB4E8BB-3E19-4E09-9471-FF54D77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Uvoz cena, lokacija i tri scenarija kupovine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C3903D5-FAE8-4180-ADD0-EE49CCC0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0C1ECB9-6CE1-4EE9-A9CE-76BF834A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Offline-first Android tok i detalji cena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237F40-FBCA-407F-ACDD-0164A442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Instrumentation testovi nisu ponovo pokrenuti u ovom prolazu.</a:t>
            </a:r>
          </a:p>
        </p:txBody>
      </p:sp>
    </p:spTree>
    <p:extLst>
      <p:ext uri="{BB962C8B-B14F-4D97-AF65-F5344CB8AC3E}">
        <p14:creationId xmlns:p14="http://schemas.microsoft.com/office/powerpoint/2010/main" val="5957299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A7D73F6-5270-430D-83F4-6881C849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SLEDEĆI NAJPAMETNIJI REDOSLED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F7D591-CFE7-403B-8952-E83823A6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 — ostale su važne optimizacije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7105574-BE52-458A-B96D-49A4D5E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9A8C29-7B1E-47D7-94D1-754B56DF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356FF92-4EBC-44AF-87F4-B4DB8118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484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05565866-9A83-42D2-906B-71A5BCA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91CF8711-5E9C-4E05-B11D-529838C2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23A"/>
          </a:solidFill>
          <a:ln xmlns:a="http://schemas.openxmlformats.org/drawingml/2006/main" w="9525">
            <a:solidFill>
              <a:srgbClr val="C9423A"/>
            </a:solidFill>
            <a:prstDash val="solid"/>
          </a:ln>
        </p:spPr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C8C6355-C13F-48AA-8A63-E22CA867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1AACA5-ABD3-40D3-B8F1-DBDBD98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942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423A"/>
                </a:solidFill>
                <a:latin typeface="Helvetica Neue"/>
                <a:ea typeface="Helvetica Neue"/>
                <a:cs typeface="Helvetica Neue"/>
              </a:rPr>
              <a:t>0–30 dana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8D4229-E971-49EB-8081-D838107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Pouzdan katalog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55E5827-FD25-4AEA-8D71-9B895C1C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Admin pregled duplikata, merge/split porodica, aliasi i metrika pokrivenosti.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A881953-58F3-4306-B75D-410E22BA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D2A734A-C4F1-4DD2-B106-BA1D1C11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B06E810-BE51-4E82-9EAC-1410055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05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30–60 dana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D2B38E8-A936-46A4-A7A0-6A986896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Pouzdana produkcija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1E59AB-2ED4-4B61-9356-B60B72CA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Domen/TLS, tajne, rate-limit, monitoring, off-site backup i restore proba.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0DBB6DB7-D9EB-44EB-BF9F-A0E3B96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9525">
            <a:solidFill>
              <a:srgbClr val="0076D7"/>
            </a:solidFill>
            <a:prstDash val="soli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19CA580-529C-409D-9DFE-A3C2C910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CFC5F97-33B7-487A-B9C8-EE35E33D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05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76D7"/>
                </a:solidFill>
                <a:latin typeface="Helvetica Neue"/>
                <a:ea typeface="Helvetica Neue"/>
                <a:cs typeface="Helvetica Neue"/>
              </a:rPr>
              <a:t>60–90 dana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4641EBC-CB60-4C16-978E-8E92E95C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Skala i kvalitet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2B267EF-D512-4028-B83B-9023D76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6240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Load test, EXPLAIN ANALYZE, particionisanje istorije i prava drumska ruta.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C1E9C5A-DEBC-455E-AF4C-22256CC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DF6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52E8F34-06BC-4568-9C1E-23857592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02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252B"/>
                </a:solidFill>
                <a:latin typeface="Helvetica Neue"/>
                <a:ea typeface="Helvetica Neue"/>
                <a:cs typeface="Helvetica Neue"/>
              </a:rPr>
              <a:t>Najveća sledeća vrednost: alat za ljudsku proveru duplikata — šema već postoji, operativni ekran još ne.</a:t>
            </a:r>
          </a:p>
        </p:txBody>
      </p:sp>
    </p:spTree>
    <p:extLst>
      <p:ext uri="{BB962C8B-B14F-4D97-AF65-F5344CB8AC3E}">
        <p14:creationId xmlns:p14="http://schemas.microsoft.com/office/powerpoint/2010/main" val="13780507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28DF570-906C-470B-BDA8-7364EBF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6D7"/>
          </a:solidFill>
          <a:ln xmlns:a="http://schemas.openxmlformats.org/drawingml/2006/main" w="0">
            <a:solidFill>
              <a:srgbClr val="0076D7"/>
            </a:solidFill>
            <a:prstDash val="solid"/>
          </a:ln>
        </p:spPr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695923-EA4E-4195-8219-18D2A63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rPr>
              <a:t>GDE SMO SADA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36A3F0-1F16-4537-BFC6-2616E7C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Jezgro radi.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71D062-8A12-49A0-B5A0-A57785E1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rPr>
              <a:t>Sledeći cilj je pouzdana beta koja plan pretvara u aktivan spisak i uvek zna: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2B8842B-296C-447D-B010-5A3D9205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C8FF"/>
          </a:solidFill>
          <a:ln xmlns:a="http://schemas.openxmlformats.org/drawingml/2006/main" w="9525">
            <a:solidFill>
              <a:srgbClr val="7EC8FF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C55C277-E13B-4AA7-8A3F-88D60CC4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koji je proizvod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CD703EF4-5688-4BA3-B933-CDEAD41C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C8FF"/>
          </a:solidFill>
          <a:ln xmlns:a="http://schemas.openxmlformats.org/drawingml/2006/main" w="9525">
            <a:solidFill>
              <a:srgbClr val="7EC8FF"/>
            </a:solidFill>
            <a:prstDash val="solid"/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6B8FE67-0759-4463-9C90-A86BE961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gde se prodaje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DE4835B-52E3-4564-89BF-D607C0BD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5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C8FF"/>
          </a:solidFill>
          <a:ln xmlns:a="http://schemas.openxmlformats.org/drawingml/2006/main" w="9525">
            <a:solidFill>
              <a:srgbClr val="7EC8FF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F846E65-E16A-4671-99B1-9D76BF3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koliko košta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5C6B558-9B9E-4AB9-83E1-E689BDB1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48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C8FF"/>
          </a:solidFill>
          <a:ln xmlns:a="http://schemas.openxmlformats.org/drawingml/2006/main" w="9525">
            <a:solidFill>
              <a:srgbClr val="7EC8FF"/>
            </a:solidFill>
            <a:prstDash val="solid"/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858ECE-E48C-4B86-9119-FE27A5D0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šta je kupljeno i šta je ostalo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B752BA9-BBE6-4E88-97DD-A22E992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76350"/>
            <a:ext cx="3124200" cy="40005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C2A35"/>
          </a:solidFill>
          <a:ln xmlns:a="http://schemas.openxmlformats.org/drawingml/2006/main" w="9525">
            <a:solidFill>
              <a:srgbClr val="3A5264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F4D37D1-F7AB-4C06-9E27-5006549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Pametan sistem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AA2E526-414F-403F-99BD-334EF5F2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rPr>
              <a:t>ne skriva greške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4B3A25A-0101-4CCF-B910-51F831E0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051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6B0963-5A51-4228-B9F4-5C925FA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5D8DD"/>
                </a:solidFill>
                <a:latin typeface="Helvetica Neue"/>
                <a:ea typeface="Helvetica Neue"/>
                <a:cs typeface="Helvetica Neue"/>
              </a:rPr>
              <a:t>objašnjava odluke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0B694D-ED49-44DA-ADE7-0143A89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862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7EC8FF"/>
                </a:solidFill>
                <a:latin typeface="Helvetica Neue"/>
                <a:ea typeface="Helvetica Neue"/>
                <a:cs typeface="Helvetica Neue"/>
              </a:rPr>
              <a:t>=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9C0F2A-D9F1-45EC-812B-69DBC8D8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poverenje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0D7D32E-5993-4F89-B3E0-8E64A888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AB2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AB2BA"/>
                </a:solidFill>
                <a:latin typeface="Helvetica Neue"/>
                <a:ea typeface="Helvetica Neue"/>
                <a:cs typeface="Helvetica Neue"/>
              </a:rPr>
              <a:t>PAMETNA KUPOVINA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76DAA7B-E433-4A7B-A6C5-CCCB9E58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83560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2026-08-31T10:14:55.7100000Z</dcterms:created>
  <dcterms:modified xsi:type="dcterms:W3CDTF">2026-08-31T10:14:55.7100000Z</dcterms:modified>
</coreProperties>
</file>